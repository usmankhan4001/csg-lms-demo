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84048" cy="274320"/>
          </a:xfrm>
          <a:prstGeom prst="rect">
            <a:avLst/>
          </a:prstGeom>
          <a:noFill/>
          <a:ln w="12700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00" b="1">
                <a:solidFill>
                  <a:srgbClr val="7C5714"/>
                </a:solidFill>
                <a:latin typeface="Consolas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63040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i="0" sz="1050">
                <a:solidFill>
                  <a:srgbClr val="7C5714"/>
                </a:solidFill>
                <a:latin typeface="Consolas"/>
              </a:rPr>
              <a:t>PROGRAM BRIEFING · FOR STAKEHOLDERS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1600200"/>
            <a:ext cx="775685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241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sz="5000">
                <a:solidFill>
                  <a:srgbClr val="15213A"/>
                </a:solidFill>
                <a:latin typeface="Georgia"/>
              </a:rPr>
              <a:t>Lighthouse School System 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 sz="1600">
                <a:solidFill>
                  <a:srgbClr val="47536C"/>
                </a:solidFill>
                <a:latin typeface="Calibri"/>
              </a:rPr>
              <a:t>CSGLMS — what the program is building, how delivery is paced, and exactly where to look in Azure DevOps to see it for yourself.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b="1" i="0" sz="1200">
                <a:solidFill>
                  <a:srgbClr val="15213A"/>
                </a:solidFill>
                <a:latin typeface="Calibri"/>
              </a:rPr>
              <a:t>CSG INFOTECH Private Limited</a:t>
            </a:r>
          </a:p>
          <a:p>
            <a:pPr algn="l">
              <a:lnSpc>
                <a:spcPct val="150000"/>
              </a:lnSpc>
            </a:pPr>
            <a:r>
              <a:rPr b="1" i="0" sz="1200">
                <a:solidFill>
                  <a:srgbClr val="15213A"/>
                </a:solidFill>
                <a:latin typeface="Calibri"/>
              </a:rPr>
              <a:t>Org  dev.azure.com/CSGInfotech</a:t>
            </a:r>
          </a:p>
          <a:p>
            <a:pPr algn="l">
              <a:lnSpc>
                <a:spcPct val="150000"/>
              </a:lnSpc>
            </a:pPr>
            <a:r>
              <a:rPr b="1" i="0" sz="1200">
                <a:solidFill>
                  <a:srgbClr val="15213A"/>
                </a:solidFill>
                <a:latin typeface="Calibri"/>
              </a:rPr>
              <a:t>Prepared  31 Aug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0120"/>
            <a:ext cx="2926080" cy="41148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384048" cy="274320"/>
          </a:xfrm>
          <a:prstGeom prst="rect">
            <a:avLst/>
          </a:prstGeom>
          <a:noFill/>
          <a:ln w="12700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00" b="1">
                <a:solidFill>
                  <a:srgbClr val="7C5714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i="0" sz="1050">
                <a:solidFill>
                  <a:srgbClr val="7C5714"/>
                </a:solidFill>
                <a:latin typeface="Consolas"/>
              </a:rPr>
              <a:t>THE PRODUCT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640080"/>
            <a:ext cx="775685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868680"/>
            <a:ext cx="8686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 sz="2700">
                <a:solidFill>
                  <a:srgbClr val="15213A"/>
                </a:solidFill>
                <a:latin typeface="Georgia"/>
              </a:rPr>
              <a:t>One platform, two clients, three pillars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i="0" sz="1350">
                <a:solidFill>
                  <a:srgbClr val="47536C"/>
                </a:solidFill>
                <a:latin typeface="Calibri"/>
              </a:rPr>
              <a:t>CSGLMS is a multi-tenant school platform: a Next.js 15 web portal for six roles — Admin, Teacher, Student, Parent, Finance, HR — and a React Native (Expo SDK 52) native mobile app with offline sync, built as a composable modular monolith.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5318607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880360"/>
            <a:ext cx="49894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250">
                <a:solidFill>
                  <a:srgbClr val="15213A"/>
                </a:solidFill>
                <a:latin typeface="Calibri"/>
              </a:rPr>
              <a:t>Web — Next.js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200400"/>
            <a:ext cx="49894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00">
                <a:solidFill>
                  <a:srgbClr val="47536C"/>
                </a:solidFill>
                <a:latin typeface="Calibri"/>
              </a:rPr>
              <a:t>Admin · Teacher · Student · Parent · Finance · HR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788920"/>
            <a:ext cx="5318607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7599" y="2880360"/>
            <a:ext cx="49894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250">
                <a:solidFill>
                  <a:srgbClr val="15213A"/>
                </a:solidFill>
                <a:latin typeface="Calibri"/>
              </a:rPr>
              <a:t>Mobile — Expo SDK 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7599" y="3200400"/>
            <a:ext cx="49894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00">
                <a:solidFill>
                  <a:srgbClr val="47536C"/>
                </a:solidFill>
                <a:latin typeface="Calibri"/>
              </a:rPr>
              <a:t>React Native · offline-first via WatermelonDB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6119" y="3566160"/>
            <a:ext cx="219456" cy="164592"/>
          </a:xfrm>
          <a:prstGeom prst="downArrow">
            <a:avLst/>
          </a:prstGeom>
          <a:solidFill>
            <a:srgbClr val="475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749040"/>
            <a:ext cx="10911535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49040"/>
            <a:ext cx="50292" cy="777240"/>
          </a:xfrm>
          <a:prstGeom prst="rect">
            <a:avLst/>
          </a:prstGeom>
          <a:solidFill>
            <a:srgbClr val="2C4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4048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250">
                <a:solidFill>
                  <a:srgbClr val="15213A"/>
                </a:solidFill>
                <a:latin typeface="Calibri"/>
              </a:rPr>
              <a:t>Core 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00">
                <a:solidFill>
                  <a:srgbClr val="47536C"/>
                </a:solidFill>
                <a:latin typeface="Calibri"/>
              </a:rPr>
              <a:t>Keycloak OIDC · Postgres row-level security · Cloudflare R2 · RabbitMQ · FCM push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86119" y="4526280"/>
            <a:ext cx="219456" cy="164592"/>
          </a:xfrm>
          <a:prstGeom prst="downArrow">
            <a:avLst/>
          </a:prstGeom>
          <a:solidFill>
            <a:srgbClr val="475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709160"/>
            <a:ext cx="3454298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709160"/>
            <a:ext cx="50292" cy="777240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00600"/>
            <a:ext cx="31251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150">
                <a:solidFill>
                  <a:srgbClr val="15213A"/>
                </a:solidFill>
                <a:latin typeface="Calibri"/>
              </a:rPr>
              <a:t>Pillar 1 — LMS / SMS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31251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950">
                <a:solidFill>
                  <a:srgbClr val="47536C"/>
                </a:solidFill>
                <a:latin typeface="Calibri"/>
              </a:rPr>
              <a:t>M01–M20 · NestJS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8698" y="4709160"/>
            <a:ext cx="3454298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8698" y="4709160"/>
            <a:ext cx="50292" cy="777240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1578" y="4800600"/>
            <a:ext cx="31251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150">
                <a:solidFill>
                  <a:srgbClr val="15213A"/>
                </a:solidFill>
                <a:latin typeface="Calibri"/>
              </a:rPr>
              <a:t>Pillar 2 — AI RevOps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1578" y="5166360"/>
            <a:ext cx="31251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950">
                <a:solidFill>
                  <a:srgbClr val="47536C"/>
                </a:solidFill>
                <a:latin typeface="Calibri"/>
              </a:rPr>
              <a:t>M21–M38 · FastAPI + LangGraph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7316" y="4709160"/>
            <a:ext cx="3454298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7316" y="4709160"/>
            <a:ext cx="50292" cy="777240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0196" y="4800600"/>
            <a:ext cx="31251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150">
                <a:solidFill>
                  <a:srgbClr val="15213A"/>
                </a:solidFill>
                <a:latin typeface="Calibri"/>
              </a:rPr>
              <a:t>Pillar 3 — AI Student Coach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0196" y="5166360"/>
            <a:ext cx="31251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950">
                <a:solidFill>
                  <a:srgbClr val="47536C"/>
                </a:solidFill>
                <a:latin typeface="Calibri"/>
              </a:rPr>
              <a:t>M39–M50 · FastAPI + pgvector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850">
                <a:solidFill>
                  <a:srgbClr val="47536C"/>
                </a:solidFill>
                <a:latin typeface="Consolas"/>
              </a:rPr>
              <a:t>Source: Welcome.md — Master Navigation Portal &amp; architecture diagram.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i="0" sz="900">
                <a:solidFill>
                  <a:srgbClr val="47536C"/>
                </a:solidFill>
                <a:latin typeface="Consolas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384048" cy="274320"/>
          </a:xfrm>
          <a:prstGeom prst="rect">
            <a:avLst/>
          </a:prstGeom>
          <a:noFill/>
          <a:ln w="12700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00" b="1">
                <a:solidFill>
                  <a:srgbClr val="7C5714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i="0" sz="1050">
                <a:solidFill>
                  <a:srgbClr val="7C5714"/>
                </a:solidFill>
                <a:latin typeface="Consolas"/>
              </a:rPr>
              <a:t>SCOPE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640080"/>
            <a:ext cx="775685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868680"/>
            <a:ext cx="8686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 sz="2700">
                <a:solidFill>
                  <a:srgbClr val="15213A"/>
                </a:solidFill>
                <a:latin typeface="Georgia"/>
              </a:rPr>
              <a:t>50 modules, three pillars, one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25221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3000">
                <a:solidFill>
                  <a:srgbClr val="15213A"/>
                </a:solidFill>
                <a:latin typeface="Georgia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39"/>
            <a:ext cx="25221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50">
                <a:solidFill>
                  <a:srgbClr val="47536C"/>
                </a:solidFill>
                <a:latin typeface="Calibri"/>
              </a:rPr>
              <a:t>Modules specified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6543" y="1874519"/>
            <a:ext cx="25221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3000">
                <a:solidFill>
                  <a:srgbClr val="15213A"/>
                </a:solidFill>
                <a:latin typeface="Georgia"/>
              </a:rPr>
              <a:t>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6543" y="2377439"/>
            <a:ext cx="25221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50">
                <a:solidFill>
                  <a:srgbClr val="47536C"/>
                </a:solidFill>
                <a:latin typeface="Calibri"/>
              </a:rPr>
              <a:t>API endpoints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874519"/>
            <a:ext cx="25221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3000">
                <a:solidFill>
                  <a:srgbClr val="15213A"/>
                </a:solidFill>
                <a:latin typeface="Georgia"/>
              </a:rPr>
              <a:t>497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2377439"/>
            <a:ext cx="25221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50">
                <a:solidFill>
                  <a:srgbClr val="47536C"/>
                </a:solidFill>
                <a:latin typeface="Calibri"/>
              </a:rPr>
              <a:t>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9471" y="1874519"/>
            <a:ext cx="252214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3000">
                <a:solidFill>
                  <a:srgbClr val="15213A"/>
                </a:solidFill>
                <a:latin typeface="Georgia"/>
              </a:rPr>
              <a:t>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9471" y="2377439"/>
            <a:ext cx="25221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50">
                <a:solidFill>
                  <a:srgbClr val="47536C"/>
                </a:solidFill>
                <a:latin typeface="Calibri"/>
              </a:rPr>
              <a:t>Database tables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2880360"/>
          <a:ext cx="10911535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2011680"/>
                <a:gridCol w="1463040"/>
                <a:gridCol w="3596335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7536C"/>
                          </a:solidFill>
                          <a:latin typeface="Consolas"/>
                        </a:rPr>
                        <a:t>PILLAR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7536C"/>
                          </a:solidFill>
                          <a:latin typeface="Consolas"/>
                        </a:rPr>
                        <a:t>MODULES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7536C"/>
                          </a:solidFill>
                          <a:latin typeface="Consolas"/>
                        </a:rPr>
                        <a:t>COUNT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7536C"/>
                          </a:solidFill>
                          <a:latin typeface="Consolas"/>
                        </a:rPr>
                        <a:t>STACK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Pillar 1 — Core School Platform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M01–M20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NestJS 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Pillar 2 — AI Revenue Operations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M21–M38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FastAPI + LangGraph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Pillar 3 — AI Student Coach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M39–M50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FastAPI + pgvector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850">
                <a:solidFill>
                  <a:srgbClr val="47536C"/>
                </a:solidFill>
                <a:latin typeface="Consolas"/>
              </a:rPr>
              <a:t>Scope figures as specified 14 Aug 2026 (Stakeholder Readiness Pack). Full spec detail: Repos → csglms-docs, 10 artifacts per module.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i="0" sz="900">
                <a:solidFill>
                  <a:srgbClr val="47536C"/>
                </a:solidFill>
                <a:latin typeface="Consolas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384048" cy="274320"/>
          </a:xfrm>
          <a:prstGeom prst="rect">
            <a:avLst/>
          </a:prstGeom>
          <a:noFill/>
          <a:ln w="12700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00" b="1">
                <a:solidFill>
                  <a:srgbClr val="7C5714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i="0" sz="1050">
                <a:solidFill>
                  <a:srgbClr val="7C5714"/>
                </a:solidFill>
                <a:latin typeface="Consolas"/>
              </a:rPr>
              <a:t>SCHEDULE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640080"/>
            <a:ext cx="775685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868680"/>
            <a:ext cx="8686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 sz="2700">
                <a:solidFill>
                  <a:srgbClr val="15213A"/>
                </a:solidFill>
                <a:latin typeface="Georgia"/>
              </a:rPr>
              <a:t>134 working days, one protected buffer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i="0" sz="1350">
                <a:solidFill>
                  <a:srgbClr val="47536C"/>
                </a:solidFill>
                <a:latin typeface="Calibri"/>
              </a:rPr>
              <a:t>Build window 2026-09-01 → 2027-02-07, Mon–Sat at 6 h/day — decided 2026-08-30 after two conflicting baselines were found live in the plan at 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4235398" cy="292608"/>
          </a:xfrm>
          <a:prstGeom prst="roundRect">
            <a:avLst>
              <a:gd name="adj" fmla="val 50000"/>
            </a:avLst>
          </a:prstGeom>
          <a:solidFill>
            <a:srgbClr val="2C4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75478" y="2697480"/>
            <a:ext cx="2440738" cy="292608"/>
          </a:xfrm>
          <a:prstGeom prst="roundRect">
            <a:avLst>
              <a:gd name="adj" fmla="val 50000"/>
            </a:avLst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6216" y="2697480"/>
            <a:ext cx="2943242" cy="292608"/>
          </a:xfrm>
          <a:prstGeom prst="roundRect">
            <a:avLst>
              <a:gd name="adj" fmla="val 50000"/>
            </a:avLst>
          </a:prstGeom>
          <a:solidFill>
            <a:srgbClr val="3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59458" y="2697480"/>
            <a:ext cx="1292155" cy="292608"/>
          </a:xfrm>
          <a:prstGeom prst="roundRect">
            <a:avLst>
              <a:gd name="adj" fmla="val 50000"/>
            </a:avLst>
          </a:prstGeom>
          <a:solidFill>
            <a:srgbClr val="CB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048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900">
                <a:solidFill>
                  <a:srgbClr val="47536C"/>
                </a:solidFill>
                <a:latin typeface="Consolas"/>
              </a:rPr>
              <a:t>Sep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118872" cy="118872"/>
          </a:xfrm>
          <a:prstGeom prst="rect">
            <a:avLst/>
          </a:prstGeom>
          <a:solidFill>
            <a:srgbClr val="2C4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200400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00">
                <a:solidFill>
                  <a:srgbClr val="47536C"/>
                </a:solidFill>
                <a:latin typeface="Calibri"/>
              </a:rPr>
              <a:t>Phase 1 · Sep 1–Nov 13 · Core Platform (M01–M20)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38728"/>
            <a:ext cx="118872" cy="118872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493008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00">
                <a:solidFill>
                  <a:srgbClr val="47536C"/>
                </a:solidFill>
                <a:latin typeface="Calibri"/>
              </a:rPr>
              <a:t>Phase 2 · Nov 14–Dec 17 · AI RevOps (M21–M38)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31336"/>
            <a:ext cx="118872" cy="118872"/>
          </a:xfrm>
          <a:prstGeom prst="rect">
            <a:avLst/>
          </a:prstGeom>
          <a:solidFill>
            <a:srgbClr val="3C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785616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00">
                <a:solidFill>
                  <a:srgbClr val="47536C"/>
                </a:solidFill>
                <a:latin typeface="Calibri"/>
              </a:rPr>
              <a:t>Phase 3 · Dec 18–Feb 6 · AI Coach (M39–M50) + launch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23944"/>
            <a:ext cx="118872" cy="118872"/>
          </a:xfrm>
          <a:prstGeom prst="rect">
            <a:avLst/>
          </a:prstGeom>
          <a:solidFill>
            <a:srgbClr val="CB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078224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00">
                <a:solidFill>
                  <a:srgbClr val="47536C"/>
                </a:solidFill>
                <a:latin typeface="Calibri"/>
              </a:rPr>
              <a:t>Buffer · Feb 8–28 · reserved, not delivery capacity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80560"/>
            <a:ext cx="345429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80560"/>
            <a:ext cx="50292" cy="1234440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590288"/>
            <a:ext cx="3088538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1" i="0" sz="1150">
                <a:solidFill>
                  <a:srgbClr val="15213A"/>
                </a:solidFill>
                <a:latin typeface="Calibri"/>
              </a:rPr>
              <a:t>134 net working days</a:t>
            </a:r>
            <a:r>
              <a:rPr b="0" i="0" sz="1150">
                <a:solidFill>
                  <a:srgbClr val="47536C"/>
                </a:solidFill>
                <a:latin typeface="Calibri"/>
              </a:rPr>
              <a:t> to 2027-02-07, then an 18-day risk buffer to 2027-02-28 — held for slippage, defect burn-down and re-test, never for planned scope.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8698" y="4480560"/>
            <a:ext cx="345429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8698" y="4480560"/>
            <a:ext cx="50292" cy="1234440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9866" y="4590288"/>
            <a:ext cx="3088538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1" i="0" sz="1150">
                <a:solidFill>
                  <a:srgbClr val="15213A"/>
                </a:solidFill>
                <a:latin typeface="Calibri"/>
              </a:rPr>
              <a:t>Contractual baseline: 14 May 2027</a:t>
            </a:r>
            <a:r>
              <a:rPr b="0" i="0" sz="1150">
                <a:solidFill>
                  <a:srgbClr val="47536C"/>
                </a:solidFill>
                <a:latin typeface="Calibri"/>
              </a:rPr>
              <a:t> (Employment Agreement CSG/EA/MU/011/26). External communication states this date only — the gap is deliberate protection.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7316" y="4480560"/>
            <a:ext cx="345429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7316" y="4480560"/>
            <a:ext cx="50292" cy="1234440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8484" y="4590288"/>
            <a:ext cx="3088538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1" i="0" sz="1150">
                <a:solidFill>
                  <a:srgbClr val="15213A"/>
                </a:solidFill>
                <a:latin typeface="Calibri"/>
              </a:rPr>
              <a:t>Three contractual phases</a:t>
            </a:r>
            <a:r>
              <a:rPr b="0" i="0" sz="1150">
                <a:solidFill>
                  <a:srgbClr val="47536C"/>
                </a:solidFill>
                <a:latin typeface="Calibri"/>
              </a:rPr>
              <a:t>, each closed by a signed Phase Acceptance Certificate before the next begins.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850">
                <a:solidFill>
                  <a:srgbClr val="47536C"/>
                </a:solidFill>
                <a:latin typeface="Consolas"/>
              </a:rPr>
              <a:t>Source: SCHEDULE-BASELINE.md &amp; MILESTONE-ROADMAP-AND-DELIVERABLES.md. Rail is proportional to working days within the build + buffer window only; the May 2027 contractual date is not drawn to scale.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i="0" sz="900">
                <a:solidFill>
                  <a:srgbClr val="47536C"/>
                </a:solidFill>
                <a:latin typeface="Consolas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384048" cy="274320"/>
          </a:xfrm>
          <a:prstGeom prst="rect">
            <a:avLst/>
          </a:prstGeom>
          <a:noFill/>
          <a:ln w="12700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00" b="1">
                <a:solidFill>
                  <a:srgbClr val="7C5714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i="0" sz="1050">
                <a:solidFill>
                  <a:srgbClr val="7C5714"/>
                </a:solidFill>
                <a:latin typeface="Consolas"/>
              </a:rPr>
              <a:t>MILESTONES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640080"/>
            <a:ext cx="775685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868680"/>
            <a:ext cx="8686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 sz="2500">
                <a:solidFill>
                  <a:srgbClr val="15213A"/>
                </a:solidFill>
                <a:latin typeface="Georgia"/>
              </a:rPr>
              <a:t>Nine milestones, each proven with a live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0292" cy="566928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1054577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1" i="0" sz="1100">
                <a:solidFill>
                  <a:srgbClr val="15213A"/>
                </a:solidFill>
                <a:latin typeface="Calibri"/>
              </a:rPr>
              <a:t>A milestone is not done because the code merged.</a:t>
            </a:r>
            <a:r>
              <a:rPr b="0" i="0" sz="1100">
                <a:solidFill>
                  <a:srgbClr val="47536C"/>
                </a:solidFill>
                <a:latin typeface="Calibri"/>
              </a:rPr>
              <a:t> It's done when the demo runs, end to end, in front of someone who didn't write it — live in the pilot school environment.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377440"/>
          <a:ext cx="10454335" cy="39776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1371600"/>
                <a:gridCol w="4236415"/>
                <a:gridCol w="1645920"/>
              </a:tblGrid>
              <a:tr h="397763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47536C"/>
                          </a:solidFill>
                          <a:latin typeface="Consolas"/>
                        </a:rPr>
                        <a:t>MILESTONE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47536C"/>
                          </a:solidFill>
                          <a:latin typeface="Consolas"/>
                        </a:rPr>
                        <a:t>WINDOW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47536C"/>
                          </a:solidFill>
                          <a:latin typeface="Consolas"/>
                        </a:rPr>
                        <a:t>SCOPE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47536C"/>
                          </a:solidFill>
                          <a:latin typeface="Consolas"/>
                        </a:rPr>
                        <a:t>GATE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MS-0 Core Foundation, Codegen &amp; Design System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Sep 1–14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Factory before product — auth, RLS, codegen, design tokens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Gate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MS-1 Academic Cluster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Sep 15–Oct 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M01, 02, 03, 04, 05, 06, 07, 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Gate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MS-2 Finance &amp; HR Cluster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Oct 12–21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M08, 09, 10, 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Gate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MS-3 Ops &amp; Platform Cluster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Oct 22–Nov 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M13–M20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Gate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MS-4 Lead Intake &amp; Sales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Nov 14–30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M21–M28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Gate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MS-5 RevOps Analytics &amp; Router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Dec 1–17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M29–M38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Gate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MS-6 AI Student Tutor &amp; 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Dec 18–31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M39–M44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Gate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MS-7 Realtime Engine &amp; Student Profile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Jan 1–13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M45–M50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Gate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MS-8 Hardening, UAT &amp; Production Launch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Jan 14–Feb 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Full system, pen-test, load test, store launch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Gate 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850">
                <a:solidFill>
                  <a:srgbClr val="47536C"/>
                </a:solidFill>
                <a:latin typeface="Consolas"/>
              </a:rPr>
              <a:t>Source: MILESTONE-ROADMAP-AND-DELIVERABLES.md v3.0.0, generated from calendar.json.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i="0" sz="900">
                <a:solidFill>
                  <a:srgbClr val="47536C"/>
                </a:solidFill>
                <a:latin typeface="Consolas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384048" cy="274320"/>
          </a:xfrm>
          <a:prstGeom prst="rect">
            <a:avLst/>
          </a:prstGeom>
          <a:noFill/>
          <a:ln w="12700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00" b="1">
                <a:solidFill>
                  <a:srgbClr val="7C5714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i="0" sz="1050">
                <a:solidFill>
                  <a:srgbClr val="7C5714"/>
                </a:solidFill>
                <a:latin typeface="Consolas"/>
              </a:rPr>
              <a:t>TEAM &amp; CAPACITY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640080"/>
            <a:ext cx="775685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868680"/>
            <a:ext cx="8686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 sz="2700">
                <a:solidFill>
                  <a:srgbClr val="15213A"/>
                </a:solidFill>
                <a:latin typeface="Georgia"/>
              </a:rPr>
              <a:t>Five paid seats, one unpaid Tech Lead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911535" cy="288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005840"/>
                <a:gridCol w="1097280"/>
                <a:gridCol w="822960"/>
                <a:gridCol w="5242255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47536C"/>
                          </a:solidFill>
                          <a:latin typeface="Consolas"/>
                        </a:rPr>
                        <a:t>SEAT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47536C"/>
                          </a:solidFill>
                          <a:latin typeface="Consolas"/>
                        </a:rPr>
                        <a:t>CAPACITY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47536C"/>
                          </a:solidFill>
                          <a:latin typeface="Consolas"/>
                        </a:rPr>
                        <a:t>COMMITTED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47536C"/>
                          </a:solidFill>
                          <a:latin typeface="Consolas"/>
                        </a:rPr>
                        <a:t>LOAD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47536C"/>
                          </a:solidFill>
                          <a:latin typeface="Consolas"/>
                        </a:rPr>
                        <a:t>FOCUS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Tech Lead / SDM / PM (25% hands-on — unpaid)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201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201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Architecture, review, gate evidence, stakeholders — allocated across all 134 working days, Sep 1 – Feb 6, every MS-0–MS-8 gate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Sr Fullstack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804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660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Web across all 50 modules; backend flex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Sr Backend 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804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700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Schema, RLS, outbox, FastAPI/LangGraph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Jr Backend 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804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520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49%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NestJS controllers, OpenAPI contracts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Jr Frontend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804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702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React Native for 23 field-persona modules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UI/UX Designer (3-month engagement)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468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468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excl.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5213A"/>
                          </a:solidFill>
                          <a:latin typeface="Calibri"/>
                        </a:rPr>
                        <a:t>Design system, archetypes, component library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892040"/>
            <a:ext cx="345429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001768"/>
            <a:ext cx="305196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2200">
                <a:solidFill>
                  <a:srgbClr val="15213A"/>
                </a:solidFill>
                <a:latin typeface="Georgia"/>
              </a:rPr>
              <a:t>3,417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486400"/>
            <a:ext cx="305196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00">
                <a:solidFill>
                  <a:srgbClr val="47536C"/>
                </a:solidFill>
                <a:latin typeface="Calibri"/>
              </a:rPr>
              <a:t>Core delivery 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4892040"/>
            <a:ext cx="345429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9866" y="5001768"/>
            <a:ext cx="305196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2200">
                <a:solidFill>
                  <a:srgbClr val="15213A"/>
                </a:solidFill>
                <a:latin typeface="Georgia"/>
              </a:rPr>
              <a:t>2,728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9866" y="5486400"/>
            <a:ext cx="305196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00">
                <a:solidFill>
                  <a:srgbClr val="47536C"/>
                </a:solidFill>
                <a:latin typeface="Calibri"/>
              </a:rPr>
              <a:t>Committed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4892040"/>
            <a:ext cx="345429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8484" y="5001768"/>
            <a:ext cx="305196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2200">
                <a:solidFill>
                  <a:srgbClr val="15213A"/>
                </a:solidFill>
                <a:latin typeface="Georgia"/>
              </a:rPr>
              <a:t>79.8%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8484" y="5486400"/>
            <a:ext cx="305196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00">
                <a:solidFill>
                  <a:srgbClr val="47536C"/>
                </a:solidFill>
                <a:latin typeface="Calibri"/>
              </a:rPr>
              <a:t>Utilisation · 689 h slack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850">
                <a:solidFill>
                  <a:srgbClr val="47536C"/>
                </a:solidFill>
                <a:latin typeface="Consolas"/>
              </a:rPr>
              <a:t>Decided 2026-08-30 (SCHEDULE-BASELINE.md, calendar.json) — materially tighter than the 65.4% / 1,379 h figure some earlier client-facing documents carried. Tech Lead committed/load from TECH-LEAD-WORKBOOK.md's 134-row day-by-day schedule (all decided-baseline dates; TEAM-ASSIGNMENT-TABLE.md §6 milestone-ownership dates corrected 2026-08-31 to match).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i="0" sz="900">
                <a:solidFill>
                  <a:srgbClr val="47536C"/>
                </a:solidFill>
                <a:latin typeface="Consolas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384048" cy="274320"/>
          </a:xfrm>
          <a:prstGeom prst="rect">
            <a:avLst/>
          </a:prstGeom>
          <a:noFill/>
          <a:ln w="12700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00" b="1">
                <a:solidFill>
                  <a:srgbClr val="7C5714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i="0" sz="1050">
                <a:solidFill>
                  <a:srgbClr val="7C5714"/>
                </a:solidFill>
                <a:latin typeface="Consolas"/>
              </a:rPr>
              <a:t>GOVERNANCE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640080"/>
            <a:ext cx="775685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868680"/>
            <a:ext cx="8686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 sz="2500">
                <a:solidFill>
                  <a:srgbClr val="15213A"/>
                </a:solidFill>
                <a:latin typeface="Georgia"/>
              </a:rPr>
              <a:t>Every phase ends with a signature, not a status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i="0" sz="1350">
                <a:solidFill>
                  <a:srgbClr val="47536C"/>
                </a:solidFill>
                <a:latin typeface="Calibri"/>
              </a:rPr>
              <a:t>ISO/IEC 12207 Gates 1–4 govern phase closure. Each of the three contractual phases closes with a signed Phase Acceptance Certificate.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514600"/>
          <a:ext cx="10911535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4206240"/>
                <a:gridCol w="1828800"/>
                <a:gridCol w="3413455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7536C"/>
                          </a:solidFill>
                          <a:latin typeface="Consolas"/>
                        </a:rPr>
                        <a:t>CONTRACT PHASE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7536C"/>
                          </a:solidFill>
                          <a:latin typeface="Consolas"/>
                        </a:rPr>
                        <a:t>SCOPE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7536C"/>
                          </a:solidFill>
                          <a:latin typeface="Consolas"/>
                        </a:rPr>
                        <a:t>MILESTONES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7536C"/>
                          </a:solidFill>
                          <a:latin typeface="Consolas"/>
                        </a:rPr>
                        <a:t>WINDOW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Core School Platform — M01–M20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MS-0–MS-3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Sep 1 – Nov 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AI Revenue Operations — M21–M38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MS-4–MS-5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Nov 14 – Dec 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AI Student Coach — M39–M50 + launch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MS-6–MS-8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5213A"/>
                          </a:solidFill>
                          <a:latin typeface="Calibri"/>
                        </a:rPr>
                        <a:t>Dec 18 – Feb 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343400"/>
            <a:ext cx="10911535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343400"/>
            <a:ext cx="50292" cy="960120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453128"/>
            <a:ext cx="10545775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1" i="0" sz="1150">
                <a:solidFill>
                  <a:srgbClr val="15213A"/>
                </a:solidFill>
                <a:latin typeface="Calibri"/>
              </a:rPr>
              <a:t>The person who built a feature demonstrates it — they do not approve it.</a:t>
            </a:r>
            <a:r>
              <a:rPr b="0" i="0" sz="1150">
                <a:solidFill>
                  <a:srgbClr val="47536C"/>
                </a:solidFill>
                <a:latin typeface="Calibri"/>
              </a:rPr>
              <a:t> Contractual phase acceptance sits with the CEO, against the same evidence standard: showable, workable, functional. Working software demonstrated live — never documents alone.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850">
                <a:solidFill>
                  <a:srgbClr val="47536C"/>
                </a:solidFill>
                <a:latin typeface="Consolas"/>
              </a:rPr>
              <a:t>Source: MILESTONE-ROADMAP-AND-DELIVERABLES.md §1; RISK-MANAGEMENT-REGISTER.md RSK-19.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i="0" sz="900">
                <a:solidFill>
                  <a:srgbClr val="47536C"/>
                </a:solidFill>
                <a:latin typeface="Consolas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384048" cy="274320"/>
          </a:xfrm>
          <a:prstGeom prst="rect">
            <a:avLst/>
          </a:prstGeom>
          <a:noFill/>
          <a:ln w="12700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00" b="1">
                <a:solidFill>
                  <a:srgbClr val="7C5714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i="0" sz="1050">
                <a:solidFill>
                  <a:srgbClr val="7C5714"/>
                </a:solidFill>
                <a:latin typeface="Consolas"/>
              </a:rPr>
              <a:t>RISK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640080"/>
            <a:ext cx="775685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868680"/>
            <a:ext cx="8686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 sz="2700">
                <a:solidFill>
                  <a:srgbClr val="15213A"/>
                </a:solidFill>
                <a:latin typeface="Georgia"/>
              </a:rPr>
              <a:t>Four risks worth a stakeholder's 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18607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0292" cy="1783080"/>
          </a:xfrm>
          <a:prstGeom prst="rect">
            <a:avLst/>
          </a:prstGeom>
          <a:solidFill>
            <a:srgbClr val="AE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920240"/>
            <a:ext cx="15544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E3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850" b="1">
                <a:solidFill>
                  <a:srgbClr val="AE3B33"/>
                </a:solidFill>
                <a:latin typeface="Consolas"/>
              </a:rPr>
              <a:t>RSK-07 · Med /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86000"/>
            <a:ext cx="4916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250">
                <a:solidFill>
                  <a:srgbClr val="15213A"/>
                </a:solidFill>
                <a:latin typeface="Calibri"/>
              </a:rPr>
              <a:t>Codegen saving underdelivers.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06040"/>
            <a:ext cx="491627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sz="1050">
                <a:solidFill>
                  <a:srgbClr val="47536C"/>
                </a:solidFill>
                <a:latin typeface="Calibri"/>
              </a:rPr>
              <a:t>~750 h of the plan assumes scaffolding saves ~15 h/module. Measured at the Gate 1 checkpoint inside MS-0 — 24 weeks left to react if it lands below ~10 h/module.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783080"/>
            <a:ext cx="5318607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0292" cy="1783080"/>
          </a:xfrm>
          <a:prstGeom prst="rect">
            <a:avLst/>
          </a:prstGeom>
          <a:solidFill>
            <a:srgbClr val="AE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34175" y="1920240"/>
            <a:ext cx="15544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E3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850" b="1">
                <a:solidFill>
                  <a:srgbClr val="AE3B33"/>
                </a:solidFill>
                <a:latin typeface="Consolas"/>
              </a:rPr>
              <a:t>RSK-08 · High /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175" y="2286000"/>
            <a:ext cx="4916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250">
                <a:solidFill>
                  <a:srgbClr val="15213A"/>
                </a:solidFill>
                <a:latin typeface="Calibri"/>
              </a:rPr>
              <a:t>Tech Lead overload.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175" y="2606040"/>
            <a:ext cx="491627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sz="1050">
                <a:solidFill>
                  <a:srgbClr val="47536C"/>
                </a:solidFill>
                <a:latin typeface="Calibri"/>
              </a:rPr>
              <a:t>One unpaid person holds SDM, PM, Tech Lead and CTO against a fixed date — recorded in the register itself as “the likeliest thing to sink the project.”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5318607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50292" cy="1783080"/>
          </a:xfrm>
          <a:prstGeom prst="rect">
            <a:avLst/>
          </a:prstGeom>
          <a:solidFill>
            <a:srgbClr val="AE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931920"/>
            <a:ext cx="15544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E3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850" b="1">
                <a:solidFill>
                  <a:srgbClr val="AE3B33"/>
                </a:solidFill>
                <a:latin typeface="Consolas"/>
              </a:rPr>
              <a:t>RSK-18 · Med /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297680"/>
            <a:ext cx="4916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250">
                <a:solidFill>
                  <a:srgbClr val="15213A"/>
                </a:solidFill>
                <a:latin typeface="Calibri"/>
              </a:rPr>
              <a:t>Contractual vs. internal date drift.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617720"/>
            <a:ext cx="491627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sz="1050">
                <a:solidFill>
                  <a:srgbClr val="47536C"/>
                </a:solidFill>
                <a:latin typeface="Calibri"/>
              </a:rPr>
              <a:t>Two dates are in play. External communication states the 14 May 2027 contractual baseline only — quoting the internal target anywhere removes that protection.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794760"/>
            <a:ext cx="5318607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3794760"/>
            <a:ext cx="50292" cy="1783080"/>
          </a:xfrm>
          <a:prstGeom prst="rect">
            <a:avLst/>
          </a:prstGeom>
          <a:solidFill>
            <a:srgbClr val="AE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34175" y="3931920"/>
            <a:ext cx="155448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E3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  <a:r>
              <a:rPr sz="850" b="1">
                <a:solidFill>
                  <a:srgbClr val="AE3B33"/>
                </a:solidFill>
                <a:latin typeface="Consolas"/>
              </a:rPr>
              <a:t>RSK-20 · Low / 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4175" y="4297680"/>
            <a:ext cx="4916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250">
                <a:solidFill>
                  <a:srgbClr val="15213A"/>
                </a:solidFill>
                <a:latin typeface="Calibri"/>
              </a:rPr>
              <a:t>Shared Azure DevOps process.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4175" y="4617720"/>
            <a:ext cx="491627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sz="1050">
                <a:solidFill>
                  <a:srgbClr val="47536C"/>
                </a:solidFill>
                <a:latin typeface="Calibri"/>
              </a:rPr>
              <a:t>The Agile Tailored process is shared with another project; automation is verified to touch only work items and wiki, never process-level fields.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850">
                <a:solidFill>
                  <a:srgbClr val="47536C"/>
                </a:solidFill>
                <a:latin typeface="Consolas"/>
              </a:rPr>
              <a:t>Full register — 20 tracked risks: 07-PMO-Financial-and-Executive-Tracking/RISK-MANAGEMENT-REGISTER.md (22 Aug 2026, v3.0.0).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i="0" sz="900">
                <a:solidFill>
                  <a:srgbClr val="47536C"/>
                </a:solidFill>
                <a:latin typeface="Consolas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384048" cy="274320"/>
          </a:xfrm>
          <a:prstGeom prst="rect">
            <a:avLst/>
          </a:prstGeom>
          <a:noFill/>
          <a:ln w="12700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00" b="1">
                <a:solidFill>
                  <a:srgbClr val="7C5714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i="0" sz="1050">
                <a:solidFill>
                  <a:srgbClr val="7C5714"/>
                </a:solidFill>
                <a:latin typeface="Consolas"/>
              </a:rPr>
              <a:t>WHERE THE TRUTH LIVES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640080"/>
            <a:ext cx="775685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868680"/>
            <a:ext cx="8686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 sz="2500">
                <a:solidFill>
                  <a:srgbClr val="15213A"/>
                </a:solidFill>
                <a:latin typeface="Georgia"/>
              </a:rPr>
              <a:t>Azure DevOps is the single source of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i="0" sz="1350">
                <a:solidFill>
                  <a:srgbClr val="47536C"/>
                </a:solidFill>
                <a:latin typeface="Calibri"/>
              </a:rPr>
              <a:t>Org: dev.azure.com/CSGInfotech. Everything on the previous slides is opinion until it's checked against one of these five areas.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2036003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50292" cy="1691640"/>
          </a:xfrm>
          <a:prstGeom prst="rect">
            <a:avLst/>
          </a:prstGeom>
          <a:solidFill>
            <a:srgbClr val="2C4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660904"/>
            <a:ext cx="17433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200">
                <a:solidFill>
                  <a:srgbClr val="2C4D79"/>
                </a:solidFill>
                <a:latin typeface="Calibri"/>
              </a:rPr>
              <a:t>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044952"/>
            <a:ext cx="174339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sz="950">
                <a:solidFill>
                  <a:srgbClr val="47536C"/>
                </a:solidFill>
                <a:latin typeface="Calibri"/>
              </a:rPr>
              <a:t>Backlog, sprints, delivery plans — work item progress and burndown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8963" y="2514600"/>
            <a:ext cx="2036003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58963" y="2514600"/>
            <a:ext cx="50292" cy="1691640"/>
          </a:xfrm>
          <a:prstGeom prst="rect">
            <a:avLst/>
          </a:prstGeom>
          <a:solidFill>
            <a:srgbClr val="2C4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5267" y="2660904"/>
            <a:ext cx="17433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200">
                <a:solidFill>
                  <a:srgbClr val="2C4D79"/>
                </a:solidFill>
                <a:latin typeface="Calibri"/>
              </a:rPr>
              <a:t>Repos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267" y="3044952"/>
            <a:ext cx="174339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sz="950">
                <a:solidFill>
                  <a:srgbClr val="47536C"/>
                </a:solidFill>
                <a:latin typeface="Calibri"/>
              </a:rPr>
              <a:t>csglms-docs — this wiki's source, 50 module spec packages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7846" y="2514600"/>
            <a:ext cx="2036003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7846" y="2514600"/>
            <a:ext cx="50292" cy="1691640"/>
          </a:xfrm>
          <a:prstGeom prst="rect">
            <a:avLst/>
          </a:prstGeom>
          <a:solidFill>
            <a:srgbClr val="2C4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4150" y="2660904"/>
            <a:ext cx="17433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200">
                <a:solidFill>
                  <a:srgbClr val="2C4D79"/>
                </a:solidFill>
                <a:latin typeface="Calibri"/>
              </a:rPr>
              <a:t>Wiki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4150" y="3044952"/>
            <a:ext cx="174339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sz="950">
                <a:solidFill>
                  <a:srgbClr val="47536C"/>
                </a:solidFill>
                <a:latin typeface="Calibri"/>
              </a:rPr>
              <a:t>CSG-LMS.wiki — this document set, navigable by section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6729" y="2514600"/>
            <a:ext cx="2036003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6729" y="2514600"/>
            <a:ext cx="50292" cy="1691640"/>
          </a:xfrm>
          <a:prstGeom prst="rect">
            <a:avLst/>
          </a:prstGeom>
          <a:solidFill>
            <a:srgbClr val="2C4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3033" y="2660904"/>
            <a:ext cx="17433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200">
                <a:solidFill>
                  <a:srgbClr val="2C4D79"/>
                </a:solidFill>
                <a:latin typeface="Calibri"/>
              </a:rPr>
              <a:t>Pipelines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033" y="3044952"/>
            <a:ext cx="174339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sz="950">
                <a:solidFill>
                  <a:srgbClr val="47536C"/>
                </a:solidFill>
                <a:latin typeface="Calibri"/>
              </a:rPr>
              <a:t>azure-pipelines.yml — validates every generator with --check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15612" y="2514600"/>
            <a:ext cx="2036003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15612" y="2514600"/>
            <a:ext cx="50292" cy="1691640"/>
          </a:xfrm>
          <a:prstGeom prst="rect">
            <a:avLst/>
          </a:prstGeom>
          <a:solidFill>
            <a:srgbClr val="2C4D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1916" y="2660904"/>
            <a:ext cx="17433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200">
                <a:solidFill>
                  <a:srgbClr val="2C4D79"/>
                </a:solidFill>
                <a:latin typeface="Calibri"/>
              </a:rPr>
              <a:t>Test Plans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1916" y="3044952"/>
            <a:ext cx="174339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sz="950">
                <a:solidFill>
                  <a:srgbClr val="47536C"/>
                </a:solidFill>
                <a:latin typeface="Calibri"/>
              </a:rPr>
              <a:t>Test case execution — licence-gated, see decisions requested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80560"/>
            <a:ext cx="10911535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480560"/>
            <a:ext cx="50292" cy="685800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590288"/>
            <a:ext cx="10545775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1" i="0" sz="1200">
                <a:solidFill>
                  <a:srgbClr val="15213A"/>
                </a:solidFill>
                <a:latin typeface="Calibri"/>
              </a:rPr>
              <a:t>Every number in a stakeholder deck should be reproducible by opening a board</a:t>
            </a:r>
            <a:r>
              <a:rPr b="0" i="0" sz="1200">
                <a:solidFill>
                  <a:srgbClr val="47536C"/>
                </a:solidFill>
                <a:latin typeface="Calibri"/>
              </a:rPr>
              <a:t> — not by trusting the deck.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i="0" sz="900">
                <a:solidFill>
                  <a:srgbClr val="47536C"/>
                </a:solidFill>
                <a:latin typeface="Consolas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384048" cy="274320"/>
          </a:xfrm>
          <a:prstGeom prst="rect">
            <a:avLst/>
          </a:prstGeom>
          <a:noFill/>
          <a:ln w="12700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00" b="1">
                <a:solidFill>
                  <a:srgbClr val="7C5714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i="0" sz="1050">
                <a:solidFill>
                  <a:srgbClr val="7C5714"/>
                </a:solidFill>
                <a:latin typeface="Consolas"/>
              </a:rPr>
              <a:t>HOW WORK IS TRACKED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640080"/>
            <a:ext cx="775685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868680"/>
            <a:ext cx="8686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 sz="2500">
                <a:solidFill>
                  <a:srgbClr val="15213A"/>
                </a:solidFill>
                <a:latin typeface="Georgia"/>
              </a:rPr>
              <a:t>Epic → Feature → Story → Task / Test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i="0" sz="1200">
                <a:solidFill>
                  <a:srgbClr val="15213A"/>
                </a:solidFill>
                <a:latin typeface="Calibri"/>
              </a:rPr>
              <a:t>Epic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0370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0" i="0" sz="950">
                <a:solidFill>
                  <a:srgbClr val="47536C"/>
                </a:solidFill>
                <a:latin typeface="Calibri"/>
              </a:rPr>
              <a:t>business goal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3744" y="2066544"/>
            <a:ext cx="365760" cy="164592"/>
          </a:xfrm>
          <a:prstGeom prst="rightArrow">
            <a:avLst/>
          </a:prstGeom>
          <a:solidFill>
            <a:srgbClr val="475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1800" y="178308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901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i="0" sz="1200">
                <a:solidFill>
                  <a:srgbClr val="15213A"/>
                </a:solidFill>
                <a:latin typeface="Calibri"/>
              </a:rPr>
              <a:t>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20370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0" i="0" sz="950">
                <a:solidFill>
                  <a:srgbClr val="47536C"/>
                </a:solidFill>
                <a:latin typeface="Calibri"/>
              </a:rPr>
              <a:t>capability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55464" y="2066544"/>
            <a:ext cx="365760" cy="164592"/>
          </a:xfrm>
          <a:prstGeom prst="rightArrow">
            <a:avLst/>
          </a:prstGeom>
          <a:solidFill>
            <a:srgbClr val="475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0" y="1783080"/>
            <a:ext cx="18288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901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i="0" sz="1200">
                <a:solidFill>
                  <a:srgbClr val="15213A"/>
                </a:solidFill>
                <a:latin typeface="Calibri"/>
              </a:rPr>
              <a:t>User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20370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0" i="0" sz="950">
                <a:solidFill>
                  <a:srgbClr val="47536C"/>
                </a:solidFill>
                <a:latin typeface="Calibri"/>
              </a:rPr>
              <a:t>shippable slice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87184" y="2066544"/>
            <a:ext cx="365760" cy="164592"/>
          </a:xfrm>
          <a:prstGeom prst="rightArrow">
            <a:avLst/>
          </a:prstGeom>
          <a:solidFill>
            <a:srgbClr val="475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35240" y="1783080"/>
            <a:ext cx="1828800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1783080"/>
            <a:ext cx="50292" cy="329184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181051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000">
                <a:solidFill>
                  <a:srgbClr val="15213A"/>
                </a:solidFill>
                <a:latin typeface="Calibri"/>
              </a:rPr>
              <a:t>Task — how it's built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85416"/>
            <a:ext cx="1828800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2185416"/>
            <a:ext cx="50292" cy="329184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80" y="221284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000">
                <a:solidFill>
                  <a:srgbClr val="15213A"/>
                </a:solidFill>
                <a:latin typeface="Calibri"/>
              </a:rPr>
              <a:t>Test Case — how it's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926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300">
                <a:solidFill>
                  <a:srgbClr val="15213A"/>
                </a:solidFill>
                <a:latin typeface="Calibri"/>
              </a:rPr>
              <a:t>Status flow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noFill/>
          <a:ln w="15875">
            <a:solidFill>
              <a:srgbClr val="475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15213A"/>
                </a:solidFill>
                <a:latin typeface="Consola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97764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i="0" sz="1050">
                <a:solidFill>
                  <a:srgbClr val="15213A"/>
                </a:solidFill>
                <a:latin typeface="Calibri"/>
              </a:rPr>
              <a:t>New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43000" y="3634740.0"/>
            <a:ext cx="640080" cy="0.0"/>
          </a:xfrm>
          <a:prstGeom prst="line">
            <a:avLst/>
          </a:prstGeom>
          <a:ln w="19050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783080" y="3383280"/>
            <a:ext cx="502920" cy="502920"/>
          </a:xfrm>
          <a:prstGeom prst="ellipse">
            <a:avLst/>
          </a:prstGeom>
          <a:noFill/>
          <a:ln w="15875">
            <a:solidFill>
              <a:srgbClr val="475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15213A"/>
                </a:solidFill>
                <a:latin typeface="Consola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97764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i="0" sz="1050">
                <a:solidFill>
                  <a:srgbClr val="15213A"/>
                </a:solidFill>
                <a:latin typeface="Calibri"/>
              </a:rPr>
              <a:t>Active</a:t>
            </a:r>
          </a:p>
          <a:p>
            <a:pPr algn="ctr"/>
            <a:r>
              <a:rPr b="0" i="0" sz="850">
                <a:solidFill>
                  <a:srgbClr val="47536C"/>
                </a:solidFill>
                <a:latin typeface="Calibri"/>
              </a:rPr>
              <a:t>in development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86000" y="3634740.0"/>
            <a:ext cx="640080" cy="0.0"/>
          </a:xfrm>
          <a:prstGeom prst="line">
            <a:avLst/>
          </a:prstGeom>
          <a:ln w="19050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926080" y="3383280"/>
            <a:ext cx="502920" cy="502920"/>
          </a:xfrm>
          <a:prstGeom prst="ellipse">
            <a:avLst/>
          </a:prstGeom>
          <a:noFill/>
          <a:ln w="15875">
            <a:solidFill>
              <a:srgbClr val="475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15213A"/>
                </a:solidFill>
                <a:latin typeface="Consola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397764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i="0" sz="1050">
                <a:solidFill>
                  <a:srgbClr val="15213A"/>
                </a:solidFill>
                <a:latin typeface="Calibri"/>
              </a:rPr>
              <a:t>Resolved</a:t>
            </a:r>
          </a:p>
          <a:p>
            <a:pPr algn="ctr"/>
            <a:r>
              <a:rPr b="0" i="0" sz="850">
                <a:solidFill>
                  <a:srgbClr val="47536C"/>
                </a:solidFill>
                <a:latin typeface="Calibri"/>
              </a:rPr>
              <a:t>in pull request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429000" y="3634740.0"/>
            <a:ext cx="640080" cy="0.0"/>
          </a:xfrm>
          <a:prstGeom prst="line">
            <a:avLst/>
          </a:prstGeom>
          <a:ln w="19050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069080" y="3383280"/>
            <a:ext cx="502920" cy="502920"/>
          </a:xfrm>
          <a:prstGeom prst="ellipse">
            <a:avLst/>
          </a:prstGeom>
          <a:noFill/>
          <a:ln w="15875">
            <a:solidFill>
              <a:srgbClr val="475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15213A"/>
                </a:solidFill>
                <a:latin typeface="Consola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397764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i="0" sz="1050">
                <a:solidFill>
                  <a:srgbClr val="15213A"/>
                </a:solidFill>
                <a:latin typeface="Calibri"/>
              </a:rPr>
              <a:t>Closed</a:t>
            </a:r>
          </a:p>
          <a:p>
            <a:pPr algn="ctr"/>
            <a:r>
              <a:rPr b="0" i="0" sz="850">
                <a:solidFill>
                  <a:srgbClr val="47536C"/>
                </a:solidFill>
                <a:latin typeface="Calibri"/>
              </a:rPr>
              <a:t>verified in UAT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43484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0" i="0" sz="1050">
                <a:solidFill>
                  <a:srgbClr val="47536C"/>
                </a:solidFill>
                <a:latin typeface="Calibri"/>
              </a:rPr>
              <a:t>Every Task carries a parent Story; every Test Case links to the Story it verifies. That link, followed end to end, is what “traceability” means in practice — it's what to click through to check, not take on faith.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850">
                <a:solidFill>
                  <a:srgbClr val="47536C"/>
                </a:solidFill>
                <a:latin typeface="Consolas"/>
              </a:rPr>
              <a:t>Source: 04-Operations-Runbooks-and-Skills/sops/Issues-and-ADO-Work-Item-Management-SOP.md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i="0" sz="900">
                <a:solidFill>
                  <a:srgbClr val="47536C"/>
                </a:solidFill>
                <a:latin typeface="Consola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384048" cy="274320"/>
          </a:xfrm>
          <a:prstGeom prst="rect">
            <a:avLst/>
          </a:prstGeom>
          <a:noFill/>
          <a:ln w="12700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00" b="1">
                <a:solidFill>
                  <a:srgbClr val="7C5714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i="0" sz="1050">
                <a:solidFill>
                  <a:srgbClr val="7C5714"/>
                </a:solidFill>
                <a:latin typeface="Consolas"/>
              </a:rPr>
              <a:t>A WALKTHROUGH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640080"/>
            <a:ext cx="775685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868680"/>
            <a:ext cx="8686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 sz="2700">
                <a:solidFill>
                  <a:srgbClr val="15213A"/>
                </a:solidFill>
                <a:latin typeface="Georgia"/>
              </a:rPr>
              <a:t>Five stops to see real status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noFill/>
          <a:ln w="15875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C5714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6479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300">
                <a:solidFill>
                  <a:srgbClr val="15213A"/>
                </a:solidFill>
                <a:latin typeface="Calibri"/>
              </a:rPr>
              <a:t>Boards → Backlogs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3911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50">
                <a:solidFill>
                  <a:srgbClr val="47536C"/>
                </a:solidFill>
                <a:latin typeface="Calibri"/>
              </a:rPr>
              <a:t>Every Epic, Feature, Story, Task and Test Case, with parent links — the full inventory of declared work.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386584"/>
            <a:ext cx="384048" cy="384048"/>
          </a:xfrm>
          <a:prstGeom prst="ellipse">
            <a:avLst/>
          </a:prstGeom>
          <a:noFill/>
          <a:ln w="15875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C5714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682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300">
                <a:solidFill>
                  <a:srgbClr val="15213A"/>
                </a:solidFill>
                <a:latin typeface="Calibri"/>
              </a:rPr>
              <a:t>Boards → Sprints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42616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50">
                <a:solidFill>
                  <a:srgbClr val="47536C"/>
                </a:solidFill>
                <a:latin typeface="Calibri"/>
              </a:rPr>
              <a:t>The current two-week sprint, its board and burndown — what's committed versus what's actually moving.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90088"/>
            <a:ext cx="384048" cy="384048"/>
          </a:xfrm>
          <a:prstGeom prst="ellipse">
            <a:avLst/>
          </a:prstGeom>
          <a:noFill/>
          <a:ln w="15875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C5714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718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300">
                <a:solidFill>
                  <a:srgbClr val="15213A"/>
                </a:solidFill>
                <a:latin typeface="Calibri"/>
              </a:rPr>
              <a:t>Boards → Delivery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4612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50">
                <a:solidFill>
                  <a:srgbClr val="47536C"/>
                </a:solidFill>
                <a:latin typeface="Calibri"/>
              </a:rPr>
              <a:t>One timeline across every team, milestones overlaid on sprints — the same roadmap as Slide 04, live.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593592"/>
            <a:ext cx="384048" cy="384048"/>
          </a:xfrm>
          <a:prstGeom prst="ellipse">
            <a:avLst/>
          </a:prstGeom>
          <a:noFill/>
          <a:ln w="15875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C5714"/>
                </a:solidFill>
                <a:latin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75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300">
                <a:solidFill>
                  <a:srgbClr val="15213A"/>
                </a:solidFill>
                <a:latin typeface="Calibri"/>
              </a:rPr>
              <a:t>Overview → 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4962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50">
                <a:solidFill>
                  <a:srgbClr val="47536C"/>
                </a:solidFill>
                <a:latin typeface="Calibri"/>
              </a:rPr>
              <a:t>Live widgets — velocity, burndown, work item counts — without digging through queries.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197096"/>
            <a:ext cx="384048" cy="384048"/>
          </a:xfrm>
          <a:prstGeom prst="ellipse">
            <a:avLst/>
          </a:prstGeom>
          <a:noFill/>
          <a:ln w="15875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C5714"/>
                </a:solidFill>
                <a:latin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7880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300">
                <a:solidFill>
                  <a:srgbClr val="15213A"/>
                </a:solidFill>
                <a:latin typeface="Calibri"/>
              </a:rPr>
              <a:t>Overview → Wiki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53128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50">
                <a:solidFill>
                  <a:srgbClr val="47536C"/>
                </a:solidFill>
                <a:latin typeface="Calibri"/>
              </a:rPr>
              <a:t>CSG-LMS.wiki — this document set, including every source cited on this deck.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10328"/>
            <a:ext cx="10911535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910328"/>
            <a:ext cx="50292" cy="594360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020056"/>
            <a:ext cx="10545775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1" i="0" sz="1150">
                <a:solidFill>
                  <a:srgbClr val="15213A"/>
                </a:solidFill>
                <a:latin typeface="Calibri"/>
              </a:rPr>
              <a:t>Ask to have it opened live in the meeting.</a:t>
            </a:r>
            <a:r>
              <a:rPr b="0" i="0" sz="1150">
                <a:solidFill>
                  <a:srgbClr val="47536C"/>
                </a:solidFill>
                <a:latin typeface="Calibri"/>
              </a:rPr>
              <a:t> Every figure in this briefing is meant to be checked, not taken on faith.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i="0" sz="900">
                <a:solidFill>
                  <a:srgbClr val="47536C"/>
                </a:solidFill>
                <a:latin typeface="Consola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384048" cy="274320"/>
          </a:xfrm>
          <a:prstGeom prst="rect">
            <a:avLst/>
          </a:prstGeom>
          <a:noFill/>
          <a:ln w="12700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00" b="1">
                <a:solidFill>
                  <a:srgbClr val="7C5714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i="0" sz="1050">
                <a:solidFill>
                  <a:srgbClr val="7C5714"/>
                </a:solidFill>
                <a:latin typeface="Consolas"/>
              </a:rPr>
              <a:t>CADENCE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640080"/>
            <a:ext cx="775685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868680"/>
            <a:ext cx="8686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 sz="2700">
                <a:solidFill>
                  <a:srgbClr val="15213A"/>
                </a:solidFill>
                <a:latin typeface="Georgia"/>
              </a:rPr>
              <a:t>Who's watching the board, and when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454298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20240"/>
            <a:ext cx="305196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900">
                <a:solidFill>
                  <a:srgbClr val="2C4D79"/>
                </a:solidFill>
                <a:latin typeface="Consolas"/>
              </a:rPr>
              <a:t>PROJECT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67128"/>
            <a:ext cx="305196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350">
                <a:solidFill>
                  <a:srgbClr val="15213A"/>
                </a:solidFill>
                <a:latin typeface="Georgia"/>
              </a:rPr>
              <a:t>Morning standup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96312"/>
            <a:ext cx="305196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00">
                <a:solidFill>
                  <a:srgbClr val="47536C"/>
                </a:solidFill>
                <a:latin typeface="Consolas"/>
              </a:rPr>
              <a:t>08:30 – 09:00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834640"/>
            <a:ext cx="305196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 sz="1000">
                <a:solidFill>
                  <a:srgbClr val="47536C"/>
                </a:solidFill>
                <a:latin typeface="Calibri"/>
              </a:rPr>
              <a:t>•  Yesterday's completions vs. schedule</a:t>
            </a:r>
          </a:p>
          <a:p>
            <a:pPr algn="l">
              <a:lnSpc>
                <a:spcPct val="130000"/>
              </a:lnSpc>
            </a:pPr>
            <a:r>
              <a:rPr b="0" i="0" sz="1000">
                <a:solidFill>
                  <a:srgbClr val="47536C"/>
                </a:solidFill>
                <a:latin typeface="Calibri"/>
              </a:rPr>
              <a:t>•  Blocker identification</a:t>
            </a:r>
          </a:p>
          <a:p>
            <a:pPr algn="l">
              <a:lnSpc>
                <a:spcPct val="130000"/>
              </a:lnSpc>
            </a:pPr>
            <a:r>
              <a:rPr b="0" i="0" sz="1000">
                <a:solidFill>
                  <a:srgbClr val="47536C"/>
                </a:solidFill>
                <a:latin typeface="Calibri"/>
              </a:rPr>
              <a:t>•  Backlog status on ADO Boards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783080"/>
            <a:ext cx="3454298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9866" y="1920240"/>
            <a:ext cx="305196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900">
                <a:solidFill>
                  <a:srgbClr val="2C4D79"/>
                </a:solidFill>
                <a:latin typeface="Consolas"/>
              </a:rPr>
              <a:t>SOFTWARE DELIVERY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866" y="2167128"/>
            <a:ext cx="305196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350">
                <a:solidFill>
                  <a:srgbClr val="15213A"/>
                </a:solidFill>
                <a:latin typeface="Georgia"/>
              </a:rPr>
              <a:t>Mid-day pipeline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866" y="2496312"/>
            <a:ext cx="305196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00">
                <a:solidFill>
                  <a:srgbClr val="47536C"/>
                </a:solidFill>
                <a:latin typeface="Consolas"/>
              </a:rPr>
              <a:t>12:00 – 12:30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866" y="2834640"/>
            <a:ext cx="305196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 sz="1000">
                <a:solidFill>
                  <a:srgbClr val="47536C"/>
                </a:solidFill>
                <a:latin typeface="Calibri"/>
              </a:rPr>
              <a:t>•  Active pull request queue on GitHub</a:t>
            </a:r>
          </a:p>
          <a:p>
            <a:pPr algn="l">
              <a:lnSpc>
                <a:spcPct val="130000"/>
              </a:lnSpc>
            </a:pPr>
            <a:r>
              <a:rPr b="0" i="0" sz="1000">
                <a:solidFill>
                  <a:srgbClr val="47536C"/>
                </a:solidFill>
                <a:latin typeface="Calibri"/>
              </a:rPr>
              <a:t>•  Automated test logs &amp; coverage</a:t>
            </a:r>
          </a:p>
          <a:p>
            <a:pPr algn="l">
              <a:lnSpc>
                <a:spcPct val="130000"/>
              </a:lnSpc>
            </a:pPr>
            <a:r>
              <a:rPr b="0" i="0" sz="1000">
                <a:solidFill>
                  <a:srgbClr val="47536C"/>
                </a:solidFill>
                <a:latin typeface="Calibri"/>
              </a:rPr>
              <a:t>•  Branch &amp; commit conventions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1783080"/>
            <a:ext cx="3454298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8484" y="1920240"/>
            <a:ext cx="305196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900">
                <a:solidFill>
                  <a:srgbClr val="2C4D79"/>
                </a:solidFill>
                <a:latin typeface="Consolas"/>
              </a:rPr>
              <a:t>CHIEF TECHNOLOGY OFFICER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8484" y="2167128"/>
            <a:ext cx="305196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i="0" sz="1350">
                <a:solidFill>
                  <a:srgbClr val="15213A"/>
                </a:solidFill>
                <a:latin typeface="Georgia"/>
              </a:rPr>
              <a:t>Evening deployment &amp; log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8484" y="2496312"/>
            <a:ext cx="305196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1000">
                <a:solidFill>
                  <a:srgbClr val="47536C"/>
                </a:solidFill>
                <a:latin typeface="Consolas"/>
              </a:rPr>
              <a:t>17:00 – 18:00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484" y="2834640"/>
            <a:ext cx="305196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 sz="1000">
                <a:solidFill>
                  <a:srgbClr val="47536C"/>
                </a:solidFill>
                <a:latin typeface="Calibri"/>
              </a:rPr>
              <a:t>•  Container resource utilisation</a:t>
            </a:r>
          </a:p>
          <a:p>
            <a:pPr algn="l">
              <a:lnSpc>
                <a:spcPct val="130000"/>
              </a:lnSpc>
            </a:pPr>
            <a:r>
              <a:rPr b="0" i="0" sz="1000">
                <a:solidFill>
                  <a:srgbClr val="47536C"/>
                </a:solidFill>
                <a:latin typeface="Calibri"/>
              </a:rPr>
              <a:t>•  Database backups to Cloudflare R2</a:t>
            </a:r>
          </a:p>
          <a:p>
            <a:pPr algn="l">
              <a:lnSpc>
                <a:spcPct val="130000"/>
              </a:lnSpc>
            </a:pPr>
            <a:r>
              <a:rPr b="0" i="0" sz="1000">
                <a:solidFill>
                  <a:srgbClr val="47536C"/>
                </a:solidFill>
                <a:latin typeface="Calibri"/>
              </a:rPr>
              <a:t>•  Approved PRs merged to staging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72000"/>
            <a:ext cx="10911535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572000"/>
            <a:ext cx="50292" cy="640080"/>
          </a:xfrm>
          <a:prstGeom prst="rect">
            <a:avLst/>
          </a:prstGeom>
          <a:solidFill>
            <a:srgbClr val="A8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681728"/>
            <a:ext cx="1054577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b="1" i="0" sz="1150">
                <a:solidFill>
                  <a:srgbClr val="15213A"/>
                </a:solidFill>
                <a:latin typeface="Calibri"/>
              </a:rPr>
              <a:t>Bi-weekly:</a:t>
            </a:r>
            <a:r>
              <a:rPr b="0" i="0" sz="1150">
                <a:solidFill>
                  <a:srgbClr val="47536C"/>
                </a:solidFill>
                <a:latin typeface="Calibri"/>
              </a:rPr>
              <a:t> the PM submits a four-part steering-committee update — accomplishments, next deliverables, risks &amp; escalations, capacity burn 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0" sz="850">
                <a:solidFill>
                  <a:srgbClr val="47536C"/>
                </a:solidFill>
                <a:latin typeface="Consolas"/>
              </a:rPr>
              <a:t>Source: PM-SDM-CTO-MASTER-MANAGEMENT-GUIDE.md §2; EXECUTIVE-STEERING-COMMITTEE-DASHBOARD.md §3.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i="0" sz="900">
                <a:solidFill>
                  <a:srgbClr val="47536C"/>
                </a:solidFill>
                <a:latin typeface="Consola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E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384048" cy="274320"/>
          </a:xfrm>
          <a:prstGeom prst="rect">
            <a:avLst/>
          </a:prstGeom>
          <a:noFill/>
          <a:ln w="12700">
            <a:solidFill>
              <a:srgbClr val="A8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000" b="1">
                <a:solidFill>
                  <a:srgbClr val="7C5714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i="0" sz="1050">
                <a:solidFill>
                  <a:srgbClr val="7C5714"/>
                </a:solidFill>
                <a:latin typeface="Consolas"/>
              </a:rPr>
              <a:t>TODAY, AND WHAT'S ASKED OF YOU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640080"/>
            <a:ext cx="775685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868680"/>
            <a:ext cx="8686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 sz="2500">
                <a:solidFill>
                  <a:srgbClr val="15213A"/>
                </a:solidFill>
                <a:latin typeface="Georgia"/>
              </a:rPr>
              <a:t>Where things stand on 31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i="0" sz="1350">
                <a:solidFill>
                  <a:srgbClr val="47536C"/>
                </a:solidFill>
                <a:latin typeface="Calibri"/>
              </a:rPr>
              <a:t>The build opens tomorrow, 2026-09-01. The schedule baseline was decided 2026-08-30/31, so every date on this deck is current as of today.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514600"/>
          <a:ext cx="10911535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6382512"/>
                <a:gridCol w="4026103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7536C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7536C"/>
                          </a:solidFill>
                          <a:latin typeface="Consolas"/>
                        </a:rPr>
                        <a:t>DECISION REQUESTED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7536C"/>
                          </a:solidFill>
                          <a:latin typeface="Consolas"/>
                        </a:rPr>
                        <a:t>WHY IT'S ON THIS DECK</a:t>
                      </a:r>
                    </a:p>
                  </a:txBody>
                  <a:tcPr marL="73152" marR="73152" marT="27432" marB="27432" anchor="ctr">
                    <a:solidFill>
                      <a:srgbClr val="E2E6E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3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3A"/>
                          </a:solidFill>
                          <a:latin typeface="Calibri"/>
                        </a:rPr>
                        <a:t>Approve hiring for the 5 core seats + the 2-month designer engagement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3A"/>
                          </a:solidFill>
                          <a:latin typeface="Calibri"/>
                        </a:rPr>
                        <a:t>Nothing on Slide 05's timeline starts without 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3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3A"/>
                          </a:solidFill>
                          <a:latin typeface="Calibri"/>
                        </a:rPr>
                        <a:t>Approve licence spend — 5 Basic seats, plus Basic + Test Plans if in-ADO test execution is required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3A"/>
                          </a:solidFill>
                          <a:latin typeface="Calibri"/>
                        </a:rPr>
                        <a:t>Gates Test Plans access referenced on Slide 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3A"/>
                          </a:solidFill>
                          <a:latin typeface="Calibri"/>
                        </a:rPr>
                        <a:t>Note the codegen assumption and the Gate 1 re-baseline checkpoint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3A"/>
                          </a:solidFill>
                          <a:latin typeface="Calibri"/>
                        </a:rPr>
                        <a:t>RSK-07, Slide 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3A"/>
                          </a:solidFill>
                          <a:latin typeface="Calibri"/>
                        </a:rPr>
                        <a:t>Nominate a DPO and confirm legal counsel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5213A"/>
                          </a:solidFill>
                          <a:latin typeface="Calibri"/>
                        </a:rPr>
                        <a:t>Longest lead time item; blocks Gate 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5720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i="1" sz="950">
                <a:solidFill>
                  <a:srgbClr val="47536C"/>
                </a:solidFill>
                <a:latin typeface="Calibri"/>
              </a:rPr>
              <a:t>Decisions list dated 14 Aug 2026 (Stakeholder Readiness Pack) — confirm status live in ADO before acting on it.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5074920"/>
            <a:ext cx="10911535" cy="0"/>
          </a:xfrm>
          <a:prstGeom prst="line">
            <a:avLst/>
          </a:prstGeom>
          <a:ln w="9525">
            <a:solidFill>
              <a:srgbClr val="CBD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52120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b="1" i="0" sz="1100">
                <a:solidFill>
                  <a:srgbClr val="15213A"/>
                </a:solidFill>
                <a:latin typeface="Calibri"/>
              </a:rPr>
              <a:t>Contact  </a:t>
            </a:r>
            <a:r>
              <a:rPr b="0" i="0" sz="1100">
                <a:solidFill>
                  <a:srgbClr val="47536C"/>
                </a:solidFill>
                <a:latin typeface="Calibri"/>
              </a:rPr>
              <a:t>Muhammad Usman Khan · SDM / Tech Lead</a:t>
            </a:r>
          </a:p>
          <a:p>
            <a:pPr algn="l">
              <a:lnSpc>
                <a:spcPct val="160000"/>
              </a:lnSpc>
            </a:pPr>
            <a:r>
              <a:rPr b="1" i="0" sz="1100">
                <a:solidFill>
                  <a:srgbClr val="15213A"/>
                </a:solidFill>
                <a:latin typeface="Calibri"/>
              </a:rPr>
              <a:t>Org  </a:t>
            </a:r>
            <a:r>
              <a:rPr b="0" i="0" sz="1100">
                <a:solidFill>
                  <a:srgbClr val="47536C"/>
                </a:solidFill>
                <a:latin typeface="Calibri"/>
              </a:rPr>
              <a:t>CSG INFOTECH Private Limited</a:t>
            </a:r>
          </a:p>
          <a:p>
            <a:pPr algn="l">
              <a:lnSpc>
                <a:spcPct val="160000"/>
              </a:lnSpc>
            </a:pPr>
            <a:r>
              <a:rPr b="1" i="0" sz="1100">
                <a:solidFill>
                  <a:srgbClr val="15213A"/>
                </a:solidFill>
                <a:latin typeface="Calibri"/>
              </a:rPr>
              <a:t>ADO  </a:t>
            </a:r>
            <a:r>
              <a:rPr b="0" i="0" sz="1100">
                <a:solidFill>
                  <a:srgbClr val="47536C"/>
                </a:solidFill>
                <a:latin typeface="Calibri"/>
              </a:rPr>
              <a:t>dev.azure.com/CSGInfotech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0" i="0" sz="900">
                <a:solidFill>
                  <a:srgbClr val="47536C"/>
                </a:solidFill>
                <a:latin typeface="Consolas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